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8" r:id="rId2"/>
    <p:sldId id="267" r:id="rId3"/>
    <p:sldId id="271" r:id="rId4"/>
    <p:sldId id="273" r:id="rId5"/>
    <p:sldId id="272" r:id="rId6"/>
    <p:sldId id="274" r:id="rId7"/>
    <p:sldId id="283" r:id="rId8"/>
    <p:sldId id="275" r:id="rId9"/>
    <p:sldId id="285" r:id="rId10"/>
    <p:sldId id="280" r:id="rId11"/>
    <p:sldId id="281" r:id="rId12"/>
    <p:sldId id="278" r:id="rId13"/>
    <p:sldId id="282" r:id="rId14"/>
    <p:sldId id="26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6E4A16-755A-4220-A866-6F1697F89938}">
          <p14:sldIdLst>
            <p14:sldId id="268"/>
          </p14:sldIdLst>
        </p14:section>
        <p14:section name="Untitled Section" id="{A0DB7D99-0DC1-4E60-AA65-FC6811DB551F}">
          <p14:sldIdLst>
            <p14:sldId id="267"/>
            <p14:sldId id="271"/>
            <p14:sldId id="273"/>
            <p14:sldId id="272"/>
            <p14:sldId id="274"/>
            <p14:sldId id="283"/>
            <p14:sldId id="275"/>
            <p14:sldId id="285"/>
            <p14:sldId id="280"/>
            <p14:sldId id="281"/>
            <p14:sldId id="278"/>
            <p14:sldId id="282"/>
            <p14:sldId id="265"/>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12" autoAdjust="0"/>
    <p:restoredTop sz="94660"/>
  </p:normalViewPr>
  <p:slideViewPr>
    <p:cSldViewPr showGuides="1">
      <p:cViewPr varScale="1">
        <p:scale>
          <a:sx n="78" d="100"/>
          <a:sy n="78" d="100"/>
        </p:scale>
        <p:origin x="1613" y="4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t>9/4/2024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t>‹#›</a:t>
            </a:fld>
            <a:endParaRPr lang="en-US"/>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t>9/4/2024</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t>‹#›</a:t>
            </a:fld>
            <a:endParaRPr lang="en-US"/>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t>9/4/2024</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defRPr sz="1200" b="1">
                <a:solidFill>
                  <a:srgbClr val="0070C0"/>
                </a:solidFill>
                <a:latin typeface="Times New Roman" panose="02020603050405020304" pitchFamily="18" charset="0"/>
                <a:cs typeface="Times New Roman" panose="02020603050405020304" pitchFamily="18" charset="0"/>
              </a:defRPr>
            </a:lvl1pPr>
          </a:lstStyle>
          <a:p>
            <a:fld id="{1D5BB0C6-8FC1-47C0-B737-D54E21B5B868}" type="datetimeFigureOut">
              <a:rPr lang="en-US" smtClean="0"/>
              <a:t>9/4/2024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lgn="ctr">
              <a:defRPr sz="1200" b="1">
                <a:solidFill>
                  <a:srgbClr val="0070C0"/>
                </a:solidFill>
                <a:latin typeface="Times New Roman" panose="02020603050405020304" pitchFamily="18" charset="0"/>
                <a:ea typeface="MS PGothic" panose="020B0600070205080204" charset="-128"/>
                <a:cs typeface="Times New Roman" panose="02020603050405020304"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b="1">
                <a:solidFill>
                  <a:srgbClr val="0070C0"/>
                </a:solidFill>
                <a:latin typeface="Times New Roman" panose="02020603050405020304" pitchFamily="18" charset="0"/>
                <a:cs typeface="Times New Roman" panose="02020603050405020304" pitchFamily="18" charset="0"/>
              </a:defRPr>
            </a:lvl1pPr>
          </a:lstStyle>
          <a:p>
            <a:fld id="{0F8887D6-2A35-42AC-99C1-5E14D32EE4CF}" type="slidenum">
              <a:rPr lang="en-US" smtClean="0"/>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ln>
          <a:effectLst/>
          <a:scene3d>
            <a:camera prst="orthographicFront"/>
            <a:lightRig rig="threePt" dir="t"/>
          </a:scene3d>
          <a:sp3d>
            <a:bevelB/>
          </a:sp3d>
        </p:spPr>
        <p:txBody>
          <a:bodyPr wrap="none" anchor="ctr"/>
          <a:lstStyle/>
          <a:p>
            <a:pPr>
              <a:defRPr/>
            </a:pPr>
            <a:endParaRPr lang="en-US">
              <a:latin typeface="Calibri" panose="020F0502020204030204" pitchFamily="34" charset="0"/>
              <a:ea typeface="MS PGothic" panose="020B0600070205080204"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advTm="4000">
    <p:cut/>
  </p:transition>
  <p:txStyles>
    <p:titleStyle>
      <a:lvl1pPr algn="ctr" rtl="0" eaLnBrk="1" fontAlgn="base" hangingPunct="1">
        <a:spcBef>
          <a:spcPct val="0"/>
        </a:spcBef>
        <a:spcAft>
          <a:spcPct val="0"/>
        </a:spcAft>
        <a:defRPr sz="3000" kern="1200">
          <a:solidFill>
            <a:schemeClr val="tx1"/>
          </a:solidFill>
          <a:latin typeface="+mj-lt"/>
          <a:ea typeface="MS PGothic" panose="020B0600070205080204" charset="-128"/>
          <a:cs typeface="MS PGothic" panose="020B0600070205080204" charset="-128"/>
        </a:defRPr>
      </a:lvl1pPr>
      <a:lvl2pPr algn="ctr" rtl="0" eaLnBrk="1" fontAlgn="base" hangingPunct="1">
        <a:spcBef>
          <a:spcPct val="0"/>
        </a:spcBef>
        <a:spcAft>
          <a:spcPct val="0"/>
        </a:spcAft>
        <a:defRPr sz="3000">
          <a:solidFill>
            <a:schemeClr val="tx1"/>
          </a:solidFill>
          <a:latin typeface="Calibri" panose="020F0502020204030204" pitchFamily="34" charset="0"/>
          <a:ea typeface="MS PGothic" panose="020B0600070205080204" charset="-128"/>
          <a:cs typeface="MS PGothic" panose="020B0600070205080204" charset="-128"/>
        </a:defRPr>
      </a:lvl2pPr>
      <a:lvl3pPr algn="ctr" rtl="0" eaLnBrk="1" fontAlgn="base" hangingPunct="1">
        <a:spcBef>
          <a:spcPct val="0"/>
        </a:spcBef>
        <a:spcAft>
          <a:spcPct val="0"/>
        </a:spcAft>
        <a:defRPr sz="3000">
          <a:solidFill>
            <a:schemeClr val="tx1"/>
          </a:solidFill>
          <a:latin typeface="Calibri" panose="020F0502020204030204" pitchFamily="34" charset="0"/>
          <a:ea typeface="MS PGothic" panose="020B0600070205080204" charset="-128"/>
          <a:cs typeface="MS PGothic" panose="020B0600070205080204" charset="-128"/>
        </a:defRPr>
      </a:lvl3pPr>
      <a:lvl4pPr algn="ctr" rtl="0" eaLnBrk="1" fontAlgn="base" hangingPunct="1">
        <a:spcBef>
          <a:spcPct val="0"/>
        </a:spcBef>
        <a:spcAft>
          <a:spcPct val="0"/>
        </a:spcAft>
        <a:defRPr sz="3000">
          <a:solidFill>
            <a:schemeClr val="tx1"/>
          </a:solidFill>
          <a:latin typeface="Calibri" panose="020F0502020204030204" pitchFamily="34" charset="0"/>
          <a:ea typeface="MS PGothic" panose="020B0600070205080204" charset="-128"/>
          <a:cs typeface="MS PGothic" panose="020B0600070205080204" charset="-128"/>
        </a:defRPr>
      </a:lvl4pPr>
      <a:lvl5pPr algn="ctr" rtl="0" eaLnBrk="1" fontAlgn="base" hangingPunct="1">
        <a:spcBef>
          <a:spcPct val="0"/>
        </a:spcBef>
        <a:spcAft>
          <a:spcPct val="0"/>
        </a:spcAft>
        <a:defRPr sz="3000">
          <a:solidFill>
            <a:schemeClr val="tx1"/>
          </a:solidFill>
          <a:latin typeface="Calibri" panose="020F0502020204030204" pitchFamily="34" charset="0"/>
          <a:ea typeface="MS PGothic" panose="020B0600070205080204" charset="-128"/>
          <a:cs typeface="MS PGothic" panose="020B0600070205080204" charset="-128"/>
        </a:defRPr>
      </a:lvl5pPr>
      <a:lvl6pPr marL="457200" algn="ctr" rtl="0" eaLnBrk="1" fontAlgn="base" hangingPunct="1">
        <a:spcBef>
          <a:spcPct val="0"/>
        </a:spcBef>
        <a:spcAft>
          <a:spcPct val="0"/>
        </a:spcAft>
        <a:defRPr sz="3000">
          <a:solidFill>
            <a:schemeClr val="tx1"/>
          </a:solidFill>
          <a:latin typeface="Calibri" panose="020F0502020204030204" pitchFamily="34" charset="0"/>
          <a:ea typeface="MS PGothic" panose="020B0600070205080204" charset="-128"/>
        </a:defRPr>
      </a:lvl6pPr>
      <a:lvl7pPr marL="914400" algn="ctr" rtl="0" eaLnBrk="1" fontAlgn="base" hangingPunct="1">
        <a:spcBef>
          <a:spcPct val="0"/>
        </a:spcBef>
        <a:spcAft>
          <a:spcPct val="0"/>
        </a:spcAft>
        <a:defRPr sz="3000">
          <a:solidFill>
            <a:schemeClr val="tx1"/>
          </a:solidFill>
          <a:latin typeface="Calibri" panose="020F0502020204030204" pitchFamily="34" charset="0"/>
          <a:ea typeface="MS PGothic" panose="020B0600070205080204" charset="-128"/>
        </a:defRPr>
      </a:lvl7pPr>
      <a:lvl8pPr marL="1371600" algn="ctr" rtl="0" eaLnBrk="1" fontAlgn="base" hangingPunct="1">
        <a:spcBef>
          <a:spcPct val="0"/>
        </a:spcBef>
        <a:spcAft>
          <a:spcPct val="0"/>
        </a:spcAft>
        <a:defRPr sz="3000">
          <a:solidFill>
            <a:schemeClr val="tx1"/>
          </a:solidFill>
          <a:latin typeface="Calibri" panose="020F0502020204030204" pitchFamily="34" charset="0"/>
          <a:ea typeface="MS PGothic" panose="020B0600070205080204" charset="-128"/>
        </a:defRPr>
      </a:lvl8pPr>
      <a:lvl9pPr marL="1828800" algn="ctr" rtl="0" eaLnBrk="1" fontAlgn="base" hangingPunct="1">
        <a:spcBef>
          <a:spcPct val="0"/>
        </a:spcBef>
        <a:spcAft>
          <a:spcPct val="0"/>
        </a:spcAft>
        <a:defRPr sz="3000">
          <a:solidFill>
            <a:schemeClr val="tx1"/>
          </a:solidFill>
          <a:latin typeface="Calibri" panose="020F0502020204030204" pitchFamily="34" charset="0"/>
          <a:ea typeface="MS PGothic" panose="020B0600070205080204" charset="-128"/>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charset="-128"/>
          <a:cs typeface="MS PGothic" panose="020B0600070205080204" charset="-128"/>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S PGothic" panose="020B0600070205080204" charset="-128"/>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S PGothic" panose="020B0600070205080204" charset="-128"/>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S PGothic" panose="020B0600070205080204" charset="-128"/>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in.louisvuitton.com/eng-in/homepage" TargetMode="External"/><Relationship Id="rId2" Type="http://schemas.openxmlformats.org/officeDocument/2006/relationships/hyperlink" Target="http://www.kaprion.one/" TargetMode="External"/><Relationship Id="rId1" Type="http://schemas.openxmlformats.org/officeDocument/2006/relationships/slideLayout" Target="../slideLayouts/slideLayout2.xml"/><Relationship Id="rId4" Type="http://schemas.openxmlformats.org/officeDocument/2006/relationships/hyperlink" Target="https://taskspace.app/"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608" y="1402323"/>
            <a:ext cx="6624736" cy="1200329"/>
          </a:xfrm>
          <a:prstGeom prst="rect">
            <a:avLst/>
          </a:prstGeom>
          <a:noFill/>
        </p:spPr>
        <p:txBody>
          <a:bodyPr wrap="square" rtlCol="0">
            <a:spAutoFit/>
          </a:bodyPr>
          <a:lstStyle/>
          <a:p>
            <a:pPr algn="ctr"/>
            <a:r>
              <a:rPr lang="en-US" sz="3600" dirty="0">
                <a:solidFill>
                  <a:srgbClr val="FF0000"/>
                </a:solidFill>
                <a:latin typeface="Arial Black" panose="020B0A04020102020204" pitchFamily="34" charset="0"/>
              </a:rPr>
              <a:t>Front End Engineering-II Project</a:t>
            </a:r>
          </a:p>
        </p:txBody>
      </p:sp>
      <p:sp>
        <p:nvSpPr>
          <p:cNvPr id="5" name="TextBox 4"/>
          <p:cNvSpPr txBox="1"/>
          <p:nvPr/>
        </p:nvSpPr>
        <p:spPr>
          <a:xfrm>
            <a:off x="3275856" y="4653136"/>
            <a:ext cx="255198" cy="954107"/>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a:t>
            </a:r>
          </a:p>
          <a:p>
            <a:endParaRPr lang="en-US" dirty="0"/>
          </a:p>
          <a:p>
            <a:endParaRPr lang="en-US" dirty="0"/>
          </a:p>
        </p:txBody>
      </p:sp>
      <p:sp>
        <p:nvSpPr>
          <p:cNvPr id="6" name="TextBox 5"/>
          <p:cNvSpPr txBox="1"/>
          <p:nvPr/>
        </p:nvSpPr>
        <p:spPr>
          <a:xfrm>
            <a:off x="1799692" y="2852936"/>
            <a:ext cx="5112568" cy="2215991"/>
          </a:xfrm>
          <a:prstGeom prst="rect">
            <a:avLst/>
          </a:prstGeom>
          <a:solidFill>
            <a:schemeClr val="accent6">
              <a:lumMod val="60000"/>
              <a:lumOff val="40000"/>
            </a:schemeClr>
          </a:solidFill>
        </p:spPr>
        <p:txBody>
          <a:bodyPr wrap="square" rtlCol="0">
            <a:spAutoFit/>
          </a:bodyPr>
          <a:lstStyle/>
          <a:p>
            <a:r>
              <a:rPr lang="en-US" sz="2000" dirty="0"/>
              <a:t>Team Details:</a:t>
            </a:r>
          </a:p>
          <a:p>
            <a:pPr algn="ctr"/>
            <a:endParaRPr lang="en-IN" sz="2000" dirty="0">
              <a:latin typeface="Times New Roman" panose="02020603050405020304" pitchFamily="18" charset="0"/>
              <a:cs typeface="Times New Roman" panose="02020603050405020304" pitchFamily="18" charset="0"/>
              <a:sym typeface="+mn-ea"/>
            </a:endParaRPr>
          </a:p>
          <a:p>
            <a:pPr algn="ctr"/>
            <a:r>
              <a:rPr lang="en-IN" sz="2000" dirty="0">
                <a:latin typeface="Times New Roman" panose="02020603050405020304" pitchFamily="18" charset="0"/>
                <a:cs typeface="Times New Roman" panose="02020603050405020304" pitchFamily="18" charset="0"/>
                <a:sym typeface="+mn-ea"/>
              </a:rPr>
              <a:t>Yash </a:t>
            </a:r>
            <a:r>
              <a:rPr lang="en-IN" sz="2000">
                <a:latin typeface="Times New Roman" panose="02020603050405020304" pitchFamily="18" charset="0"/>
                <a:cs typeface="Times New Roman" panose="02020603050405020304" pitchFamily="18" charset="0"/>
                <a:sym typeface="+mn-ea"/>
              </a:rPr>
              <a:t>Kumar                   2310992325</a:t>
            </a:r>
            <a:endParaRPr lang="en-IN" sz="2000" dirty="0">
              <a:latin typeface="Times New Roman" panose="02020603050405020304" pitchFamily="18" charset="0"/>
              <a:cs typeface="Times New Roman" panose="02020603050405020304" pitchFamily="18" charset="0"/>
              <a:sym typeface="+mn-ea"/>
            </a:endParaRPr>
          </a:p>
          <a:p>
            <a:pPr algn="ctr"/>
            <a:r>
              <a:rPr lang="en-IN" sz="2000" dirty="0" err="1">
                <a:latin typeface="Times New Roman" panose="02020603050405020304" pitchFamily="18" charset="0"/>
                <a:cs typeface="Times New Roman" panose="02020603050405020304" pitchFamily="18" charset="0"/>
                <a:sym typeface="+mn-ea"/>
              </a:rPr>
              <a:t>Prabhnoor</a:t>
            </a:r>
            <a:r>
              <a:rPr lang="en-IN" sz="2000" dirty="0">
                <a:latin typeface="Times New Roman" panose="02020603050405020304" pitchFamily="18" charset="0"/>
                <a:cs typeface="Times New Roman" panose="02020603050405020304" pitchFamily="18" charset="0"/>
                <a:sym typeface="+mn-ea"/>
              </a:rPr>
              <a:t> Singh            2310990932</a:t>
            </a:r>
          </a:p>
          <a:p>
            <a:endParaRPr lang="en-IN" b="1" dirty="0">
              <a:latin typeface="Times New Roman" panose="02020603050405020304" pitchFamily="18" charset="0"/>
              <a:cs typeface="Times New Roman" panose="02020603050405020304" pitchFamily="18" charset="0"/>
              <a:sym typeface="+mn-ea"/>
            </a:endParaRPr>
          </a:p>
          <a:p>
            <a:r>
              <a:rPr lang="en-US" sz="2000" dirty="0">
                <a:latin typeface="Times New Roman" panose="02020603050405020304" pitchFamily="18" charset="0"/>
                <a:cs typeface="Times New Roman" panose="02020603050405020304" pitchFamily="18" charset="0"/>
              </a:rPr>
              <a:t>Faculty Coordinator: </a:t>
            </a:r>
            <a:endParaRPr lang="en-IN"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Dr. Chetna, Associate Professor</a:t>
            </a: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err="1">
                <a:solidFill>
                  <a:srgbClr val="FF0000"/>
                </a:solidFill>
                <a:latin typeface="Times New Roman" panose="02020603050405020304" pitchFamily="18" charset="0"/>
                <a:cs typeface="Times New Roman" panose="02020603050405020304" pitchFamily="18" charset="0"/>
              </a:rPr>
              <a:t>Chitkara</a:t>
            </a:r>
            <a:r>
              <a:rPr lang="en-US" sz="2000" b="1" dirty="0">
                <a:solidFill>
                  <a:srgbClr val="FF0000"/>
                </a:solidFill>
                <a:latin typeface="Times New Roman" panose="02020603050405020304" pitchFamily="18" charset="0"/>
                <a:cs typeface="Times New Roman" panose="02020603050405020304" pitchFamily="18" charset="0"/>
              </a:rPr>
              <a:t> University Institute of Engineering and Technology, </a:t>
            </a:r>
          </a:p>
          <a:p>
            <a:pPr algn="ctr"/>
            <a:r>
              <a:rPr lang="en-US" sz="2000" b="1" dirty="0" err="1">
                <a:solidFill>
                  <a:srgbClr val="FF0000"/>
                </a:solidFill>
                <a:latin typeface="Times New Roman" panose="02020603050405020304" pitchFamily="18" charset="0"/>
                <a:cs typeface="Times New Roman" panose="02020603050405020304" pitchFamily="18" charset="0"/>
              </a:rPr>
              <a:t>Chitkara</a:t>
            </a:r>
            <a:r>
              <a:rPr lang="en-US" sz="2000" b="1" dirty="0">
                <a:solidFill>
                  <a:srgbClr val="FF0000"/>
                </a:solidFill>
                <a:latin typeface="Times New Roman" panose="02020603050405020304" pitchFamily="18" charset="0"/>
                <a:cs typeface="Times New Roman" panose="02020603050405020304" pitchFamily="18" charset="0"/>
              </a:rPr>
              <a:t> University, Punjab</a:t>
            </a: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54006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Table of Contents</a:t>
            </a:r>
            <a:endParaRPr lang="en-US"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323528" y="980728"/>
            <a:ext cx="6912768" cy="3970318"/>
          </a:xfrm>
          <a:prstGeom prst="rect">
            <a:avLst/>
          </a:prstGeom>
          <a:noFill/>
        </p:spPr>
        <p:txBody>
          <a:bodyPr wrap="square" rtlCol="0">
            <a:spAutoFit/>
          </a:bodyPr>
          <a:lstStyle/>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Introduction</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Problem Statement</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Technical Details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Key Features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Project Highlights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Conclusion</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References</a:t>
            </a:r>
          </a:p>
          <a:p>
            <a:pPr>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DC1694C-67F4-3340-887F-A895D9DE6B3A}"/>
              </a:ext>
            </a:extLst>
          </p:cNvPr>
          <p:cNvSpPr txBox="1"/>
          <p:nvPr/>
        </p:nvSpPr>
        <p:spPr>
          <a:xfrm>
            <a:off x="3924826" y="1548014"/>
            <a:ext cx="4960071" cy="2308324"/>
          </a:xfrm>
          <a:prstGeom prst="rect">
            <a:avLst/>
          </a:prstGeom>
          <a:noFill/>
        </p:spPr>
        <p:txBody>
          <a:bodyPr wrap="square" rtlCol="0">
            <a:spAutoFit/>
          </a:bodyPr>
          <a:lstStyle/>
          <a:p>
            <a:r>
              <a:rPr lang="en-IN" sz="5400" dirty="0">
                <a:latin typeface="Times New Roman" panose="02020603050405020304" pitchFamily="18" charset="0"/>
                <a:cs typeface="Times New Roman" panose="02020603050405020304" pitchFamily="18" charset="0"/>
              </a:rPr>
              <a:t>Online Shopping Website</a:t>
            </a:r>
          </a:p>
          <a:p>
            <a:endParaRPr lang="en-IN" sz="3600" dirty="0"/>
          </a:p>
        </p:txBody>
      </p:sp>
      <p:sp>
        <p:nvSpPr>
          <p:cNvPr id="11" name="TextBox 10">
            <a:extLst>
              <a:ext uri="{FF2B5EF4-FFF2-40B4-BE49-F238E27FC236}">
                <a16:creationId xmlns:a16="http://schemas.microsoft.com/office/drawing/2014/main" id="{0699721E-75FC-B3F3-8DA6-9EE4BA901EEF}"/>
              </a:ext>
            </a:extLst>
          </p:cNvPr>
          <p:cNvSpPr txBox="1"/>
          <p:nvPr/>
        </p:nvSpPr>
        <p:spPr>
          <a:xfrm>
            <a:off x="4375459" y="3429000"/>
            <a:ext cx="4675574" cy="3416320"/>
          </a:xfrm>
          <a:prstGeom prst="rect">
            <a:avLst/>
          </a:prstGeom>
          <a:noFill/>
        </p:spPr>
        <p:txBody>
          <a:bodyPr wrap="square" rtlCol="0">
            <a:spAutoFit/>
          </a:bodyPr>
          <a:lstStyle/>
          <a:p>
            <a:pPr algn="just"/>
            <a:r>
              <a:rPr lang="en-US" dirty="0"/>
              <a:t>This presentation will explore the development of a user-friendly and feature-rich online shopping website, designed to provide customers with a seamless and enjoyable shopping experience. Discover a world of convenience and incredible deals at your fingertips. Browse our diverse selection of products, enjoy personalized recommendations, and experience seamless shopping from the comfort of your home.</a:t>
            </a:r>
          </a:p>
          <a:p>
            <a:endParaRPr lang="en-US" dirty="0"/>
          </a:p>
          <a:p>
            <a:endParaRPr lang="en-IN" dirty="0"/>
          </a:p>
        </p:txBody>
      </p:sp>
      <p:pic>
        <p:nvPicPr>
          <p:cNvPr id="29" name="Picture 28">
            <a:extLst>
              <a:ext uri="{FF2B5EF4-FFF2-40B4-BE49-F238E27FC236}">
                <a16:creationId xmlns:a16="http://schemas.microsoft.com/office/drawing/2014/main" id="{557D4D4A-84E5-87E3-669C-724B086090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7871" y="1139436"/>
            <a:ext cx="3570521" cy="2694228"/>
          </a:xfrm>
          <a:prstGeom prst="rect">
            <a:avLst/>
          </a:prstGeom>
        </p:spPr>
      </p:pic>
      <p:pic>
        <p:nvPicPr>
          <p:cNvPr id="27" name="Picture 26">
            <a:extLst>
              <a:ext uri="{FF2B5EF4-FFF2-40B4-BE49-F238E27FC236}">
                <a16:creationId xmlns:a16="http://schemas.microsoft.com/office/drawing/2014/main" id="{C6951C23-82B7-2A63-9F9A-F3A116BE7D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4430" y="3501008"/>
            <a:ext cx="3504595" cy="2584929"/>
          </a:xfrm>
          <a:prstGeom prst="rect">
            <a:avLst/>
          </a:prstGeom>
        </p:spPr>
      </p:pic>
    </p:spTree>
  </p:cSld>
  <p:clrMapOvr>
    <a:masterClrMapping/>
  </p:clrMapOvr>
  <p:transition advTm="4000">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16632"/>
            <a:ext cx="54006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Problem Statement</a:t>
            </a:r>
          </a:p>
        </p:txBody>
      </p:sp>
      <p:sp>
        <p:nvSpPr>
          <p:cNvPr id="3" name="Rectangle 2"/>
          <p:cNvSpPr/>
          <p:nvPr/>
        </p:nvSpPr>
        <p:spPr>
          <a:xfrm>
            <a:off x="179472" y="1052736"/>
            <a:ext cx="8424936" cy="5170646"/>
          </a:xfrm>
          <a:prstGeom prst="rect">
            <a:avLst/>
          </a:prstGeom>
        </p:spPr>
        <p:txBody>
          <a:bodyPr wrap="square">
            <a:spAutoFit/>
          </a:bodyPr>
          <a:lstStyle/>
          <a:p>
            <a:pPr algn="just"/>
            <a:r>
              <a:rPr lang="en-US" sz="2200" dirty="0"/>
              <a:t>In today's fast-paced digital world, consumers expect a seamless, convenient, and personalized shopping experience online. However, many existing online shopping platforms face challenges in meeting these expectations due to complex interfaces, limited product selections, inadequate customer support, slow delivery times, and a lack of personalization. These issues can lead to customer frustration, reduced satisfaction, and lower conversion rates. The primary problem is the need for a comprehensive online shopping platform that offers a user-friendly interface, a wide range of high-quality products, personalized recommendations, secure payment methods, and efficient delivery services. The platform must also provide responsive customer support to address any issues that arise during the shopping process. Without these features, customers may experience difficulties in finding and purchasing products, leading to abandoned carts and decreased customer loyalty.</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transition advTm="4000">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92333"/>
            <a:ext cx="54006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Technical Details</a:t>
            </a:r>
          </a:p>
        </p:txBody>
      </p:sp>
      <p:sp>
        <p:nvSpPr>
          <p:cNvPr id="4" name="TextBox 3">
            <a:extLst>
              <a:ext uri="{FF2B5EF4-FFF2-40B4-BE49-F238E27FC236}">
                <a16:creationId xmlns:a16="http://schemas.microsoft.com/office/drawing/2014/main" id="{C0D4CC8B-6929-C804-D3F7-727653014733}"/>
              </a:ext>
            </a:extLst>
          </p:cNvPr>
          <p:cNvSpPr txBox="1"/>
          <p:nvPr/>
        </p:nvSpPr>
        <p:spPr>
          <a:xfrm>
            <a:off x="0" y="856357"/>
            <a:ext cx="8856984" cy="5909310"/>
          </a:xfrm>
          <a:prstGeom prst="rect">
            <a:avLst/>
          </a:prstGeom>
          <a:noFill/>
        </p:spPr>
        <p:txBody>
          <a:bodyPr wrap="square" rtlCol="0">
            <a:spAutoFit/>
          </a:bodyPr>
          <a:lstStyle/>
          <a:p>
            <a:pPr marL="342900" indent="-342900">
              <a:buFont typeface="Courier New" panose="02070309020205020404" pitchFamily="49" charset="0"/>
              <a:buChar char="o"/>
            </a:pPr>
            <a:r>
              <a:rPr lang="en-US" sz="2200" b="1" dirty="0">
                <a:latin typeface="Times New Roman" panose="02020603050405020304" pitchFamily="18" charset="0"/>
                <a:cs typeface="Times New Roman" panose="02020603050405020304" pitchFamily="18" charset="0"/>
              </a:rPr>
              <a:t>Html5: </a:t>
            </a:r>
            <a:r>
              <a:rPr lang="en-US" sz="2200" dirty="0">
                <a:latin typeface="Times New Roman" panose="02020603050405020304" pitchFamily="18" charset="0"/>
                <a:cs typeface="Times New Roman" panose="02020603050405020304" pitchFamily="18" charset="0"/>
              </a:rPr>
              <a:t>This project uses the basic html codes to provide structure to our web page and its contents. For example, content structured within a set of paragraphs, an unordered list, articles, navigation links and etc.</a:t>
            </a:r>
          </a:p>
          <a:p>
            <a:pPr marL="342900" indent="-342900">
              <a:buFont typeface="Courier New" panose="02070309020205020404" pitchFamily="49" charset="0"/>
              <a:buChar char="o"/>
            </a:pPr>
            <a:endParaRPr lang="en-US" sz="22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200" b="1" dirty="0">
                <a:latin typeface="Times New Roman" panose="02020603050405020304" pitchFamily="18" charset="0"/>
                <a:cs typeface="Times New Roman" panose="02020603050405020304" pitchFamily="18" charset="0"/>
              </a:rPr>
              <a:t>CSS: </a:t>
            </a:r>
            <a:r>
              <a:rPr lang="en-US" sz="2200" dirty="0">
                <a:latin typeface="Times New Roman" panose="02020603050405020304" pitchFamily="18" charset="0"/>
                <a:cs typeface="Times New Roman" panose="02020603050405020304" pitchFamily="18" charset="0"/>
              </a:rPr>
              <a:t>It is used to style and layout our web page, in the areas of altering fonts, changing color, size, background images and spacing the content and its splitting into multiple columns, adding animations and other decorative features.</a:t>
            </a:r>
          </a:p>
          <a:p>
            <a:pPr marL="342900" indent="-342900">
              <a:buFont typeface="Courier New" panose="02070309020205020404" pitchFamily="49" charset="0"/>
              <a:buChar char="o"/>
            </a:pPr>
            <a:endParaRPr lang="en-US" sz="22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200" b="1" dirty="0">
                <a:latin typeface="Times New Roman" panose="02020603050405020304" pitchFamily="18" charset="0"/>
                <a:cs typeface="Times New Roman" panose="02020603050405020304" pitchFamily="18" charset="0"/>
              </a:rPr>
              <a:t>JavaScript: </a:t>
            </a:r>
            <a:r>
              <a:rPr lang="en-US" sz="2200" dirty="0">
                <a:latin typeface="Times New Roman" panose="02020603050405020304" pitchFamily="18" charset="0"/>
                <a:cs typeface="Times New Roman" panose="02020603050405020304" pitchFamily="18" charset="0"/>
              </a:rPr>
              <a:t>It is used to create dynamic and interactive web contents like adding new tasks, deleting them, marking them as incomplete and etc. </a:t>
            </a:r>
          </a:p>
          <a:p>
            <a:pPr marL="342900" indent="-342900">
              <a:buFont typeface="Courier New" panose="02070309020205020404" pitchFamily="49" charset="0"/>
              <a:buChar char="o"/>
            </a:pPr>
            <a:endParaRPr lang="en-US" sz="2200" b="1"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200" b="1" dirty="0">
                <a:latin typeface="Times New Roman" panose="02020603050405020304" pitchFamily="18" charset="0"/>
                <a:cs typeface="Times New Roman" panose="02020603050405020304" pitchFamily="18" charset="0"/>
              </a:rPr>
              <a:t>Bootstrap: </a:t>
            </a:r>
            <a:r>
              <a:rPr lang="en-US" sz="2200" dirty="0"/>
              <a:t>Bootstrap is a popular front-end framework used for developing responsive and mobile-first websites quickly and efficiently.</a:t>
            </a:r>
          </a:p>
          <a:p>
            <a:pPr marL="342900" indent="-342900">
              <a:buFont typeface="Courier New" panose="02070309020205020404" pitchFamily="49" charset="0"/>
              <a:buChar char="o"/>
            </a:pPr>
            <a:endParaRPr lang="en-US" sz="2200" b="1"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200" b="1" dirty="0">
                <a:latin typeface="Times New Roman" panose="02020603050405020304" pitchFamily="18" charset="0"/>
                <a:cs typeface="Times New Roman" panose="02020603050405020304" pitchFamily="18" charset="0"/>
              </a:rPr>
              <a:t>React JS: </a:t>
            </a:r>
            <a:r>
              <a:rPr lang="en-US" sz="2400" dirty="0"/>
              <a:t>ReactJS is a popular JavaScript library used for building user interfaces, particularly single-page applications.</a:t>
            </a:r>
            <a:endParaRPr lang="en-IN" sz="2200" b="1" dirty="0">
              <a:latin typeface="Times New Roman" panose="02020603050405020304" pitchFamily="18" charset="0"/>
              <a:cs typeface="Times New Roman" panose="02020603050405020304" pitchFamily="18" charset="0"/>
            </a:endParaRPr>
          </a:p>
        </p:txBody>
      </p:sp>
    </p:spTree>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116632"/>
            <a:ext cx="54006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Key Features</a:t>
            </a:r>
          </a:p>
        </p:txBody>
      </p:sp>
      <p:sp>
        <p:nvSpPr>
          <p:cNvPr id="3" name="Rectangle 2"/>
          <p:cNvSpPr/>
          <p:nvPr/>
        </p:nvSpPr>
        <p:spPr>
          <a:xfrm>
            <a:off x="107504" y="980728"/>
            <a:ext cx="8928992" cy="6278642"/>
          </a:xfrm>
          <a:prstGeom prst="rect">
            <a:avLst/>
          </a:prstGeom>
        </p:spPr>
        <p:txBody>
          <a:bodyPr wrap="square">
            <a:spAutoFit/>
          </a:bodyPr>
          <a:lstStyle/>
          <a:p>
            <a:pPr marL="342900" indent="-342900" algn="just">
              <a:buFont typeface="Courier New" panose="02070309020205020404" pitchFamily="49" charset="0"/>
              <a:buChar char="o"/>
            </a:pPr>
            <a:r>
              <a:rPr lang="en-US" sz="2200" b="1" i="0" dirty="0">
                <a:solidFill>
                  <a:srgbClr val="111111"/>
                </a:solidFill>
                <a:effectLst/>
                <a:latin typeface="Times New Roman" panose="02020603050405020304" pitchFamily="18" charset="0"/>
                <a:cs typeface="Times New Roman" panose="02020603050405020304" pitchFamily="18" charset="0"/>
              </a:rPr>
              <a:t>Minimalist design: </a:t>
            </a:r>
            <a:r>
              <a:rPr lang="en-US" sz="2200" b="0" i="0" dirty="0">
                <a:solidFill>
                  <a:srgbClr val="111111"/>
                </a:solidFill>
                <a:effectLst/>
                <a:latin typeface="Times New Roman" panose="02020603050405020304" pitchFamily="18" charset="0"/>
                <a:cs typeface="Times New Roman" panose="02020603050405020304" pitchFamily="18" charset="0"/>
              </a:rPr>
              <a:t>Our website has a clean and simple interface that allows you to focus on your tasks without any distractions.</a:t>
            </a:r>
          </a:p>
          <a:p>
            <a:pPr marL="342900" indent="-342900" algn="just">
              <a:buFont typeface="Courier New" panose="02070309020205020404" pitchFamily="49" charset="0"/>
              <a:buChar char="o"/>
            </a:pPr>
            <a:r>
              <a:rPr lang="en-US" sz="2200" b="1" i="0" dirty="0">
                <a:solidFill>
                  <a:srgbClr val="111111"/>
                </a:solidFill>
                <a:effectLst/>
                <a:latin typeface="Times New Roman" panose="02020603050405020304" pitchFamily="18" charset="0"/>
                <a:cs typeface="Times New Roman" panose="02020603050405020304" pitchFamily="18" charset="0"/>
              </a:rPr>
              <a:t>Responsive layout: </a:t>
            </a:r>
            <a:r>
              <a:rPr lang="en-US" sz="2200" b="0" i="0" dirty="0">
                <a:solidFill>
                  <a:srgbClr val="111111"/>
                </a:solidFill>
                <a:effectLst/>
                <a:latin typeface="Times New Roman" panose="02020603050405020304" pitchFamily="18" charset="0"/>
                <a:cs typeface="Times New Roman" panose="02020603050405020304" pitchFamily="18" charset="0"/>
              </a:rPr>
              <a:t>Our website adapts to different screen sizes and devices, so you can access it from your desktop, laptop, tablet or smartphone.</a:t>
            </a:r>
          </a:p>
          <a:p>
            <a:pPr marL="342900" indent="-342900" algn="just">
              <a:buFont typeface="Courier New" panose="02070309020205020404" pitchFamily="49" charset="0"/>
              <a:buChar char="o"/>
            </a:pPr>
            <a:r>
              <a:rPr lang="en-US" sz="2200" b="1" i="0" dirty="0">
                <a:solidFill>
                  <a:srgbClr val="111111"/>
                </a:solidFill>
                <a:effectLst/>
                <a:latin typeface="Times New Roman" panose="02020603050405020304" pitchFamily="18" charset="0"/>
                <a:cs typeface="Times New Roman" panose="02020603050405020304" pitchFamily="18" charset="0"/>
              </a:rPr>
              <a:t>Dynamic interface: </a:t>
            </a:r>
            <a:r>
              <a:rPr lang="en-US" sz="2200" b="0" i="0" dirty="0">
                <a:solidFill>
                  <a:srgbClr val="111111"/>
                </a:solidFill>
                <a:effectLst/>
                <a:latin typeface="Times New Roman" panose="02020603050405020304" pitchFamily="18" charset="0"/>
                <a:cs typeface="Times New Roman" panose="02020603050405020304" pitchFamily="18" charset="0"/>
              </a:rPr>
              <a:t>Our website updates your tasks in real-time, so you can see the changes as you make them.</a:t>
            </a:r>
          </a:p>
          <a:p>
            <a:pPr marL="342900" indent="-342900" algn="just">
              <a:buFont typeface="Courier New" panose="02070309020205020404" pitchFamily="49" charset="0"/>
              <a:buChar char="o"/>
            </a:pPr>
            <a:r>
              <a:rPr lang="en-US" sz="2200" b="1" i="0" dirty="0">
                <a:solidFill>
                  <a:srgbClr val="111111"/>
                </a:solidFill>
                <a:effectLst/>
                <a:latin typeface="Times New Roman" panose="02020603050405020304" pitchFamily="18" charset="0"/>
                <a:cs typeface="Times New Roman" panose="02020603050405020304" pitchFamily="18" charset="0"/>
              </a:rPr>
              <a:t>Offline functionality: </a:t>
            </a:r>
            <a:r>
              <a:rPr lang="en-US" sz="2200" b="0" i="0" dirty="0">
                <a:solidFill>
                  <a:srgbClr val="111111"/>
                </a:solidFill>
                <a:effectLst/>
                <a:latin typeface="Times New Roman" panose="02020603050405020304" pitchFamily="18" charset="0"/>
                <a:cs typeface="Times New Roman" panose="02020603050405020304" pitchFamily="18" charset="0"/>
              </a:rPr>
              <a:t>Our website works even when you are offline, so you can use it without an internet connection.</a:t>
            </a:r>
          </a:p>
          <a:p>
            <a:pPr marL="342900" indent="-342900" algn="just">
              <a:buFont typeface="Courier New" panose="02070309020205020404" pitchFamily="49" charset="0"/>
              <a:buChar char="o"/>
            </a:pPr>
            <a:r>
              <a:rPr lang="en-US" sz="2200" b="1" i="0" dirty="0">
                <a:solidFill>
                  <a:srgbClr val="111111"/>
                </a:solidFill>
                <a:effectLst/>
                <a:latin typeface="Times New Roman" panose="02020603050405020304" pitchFamily="18" charset="0"/>
                <a:cs typeface="Times New Roman" panose="02020603050405020304" pitchFamily="18" charset="0"/>
              </a:rPr>
              <a:t>Data persistence: </a:t>
            </a:r>
            <a:r>
              <a:rPr lang="en-US" sz="2200" b="0" i="0" dirty="0">
                <a:solidFill>
                  <a:srgbClr val="111111"/>
                </a:solidFill>
                <a:effectLst/>
                <a:latin typeface="Times New Roman" panose="02020603050405020304" pitchFamily="18" charset="0"/>
                <a:cs typeface="Times New Roman" panose="02020603050405020304" pitchFamily="18" charset="0"/>
              </a:rPr>
              <a:t>Our website saves your tasks on your browser’s local storage, so you can access them anytime and anywhere without losing your data.</a:t>
            </a:r>
            <a:endParaRPr lang="en-US" sz="2200" dirty="0">
              <a:solidFill>
                <a:srgbClr val="111111"/>
              </a:solidFill>
              <a:latin typeface="Times New Roman" panose="02020603050405020304" pitchFamily="18" charset="0"/>
              <a:cs typeface="Times New Roman" panose="02020603050405020304" pitchFamily="18" charset="0"/>
            </a:endParaRPr>
          </a:p>
          <a:p>
            <a:pPr marL="342900" indent="-342900" algn="just">
              <a:buFont typeface="Courier New" panose="02070309020205020404" pitchFamily="49" charset="0"/>
              <a:buChar char="o"/>
            </a:pPr>
            <a:r>
              <a:rPr lang="en-US" sz="2200" b="1" dirty="0">
                <a:latin typeface="Times New Roman" panose="02020603050405020304" pitchFamily="18" charset="0"/>
                <a:cs typeface="Times New Roman" panose="02020603050405020304" pitchFamily="18" charset="0"/>
              </a:rPr>
              <a:t>Advanced Search and Filtering: </a:t>
            </a:r>
            <a:r>
              <a:rPr lang="en-US" sz="2200" dirty="0">
                <a:latin typeface="Times New Roman" panose="02020603050405020304" pitchFamily="18" charset="0"/>
                <a:cs typeface="Times New Roman" panose="02020603050405020304" pitchFamily="18" charset="0"/>
              </a:rPr>
              <a:t>A robust search engine that allows users to quickly find products by name, brand, or category.</a:t>
            </a:r>
          </a:p>
          <a:p>
            <a:pPr marL="342900" indent="-342900" algn="just">
              <a:buFont typeface="Courier New" panose="02070309020205020404" pitchFamily="49" charset="0"/>
              <a:buChar char="o"/>
            </a:pPr>
            <a:r>
              <a:rPr lang="en-US" sz="2200" b="1" dirty="0">
                <a:latin typeface="Times New Roman" panose="02020603050405020304" pitchFamily="18" charset="0"/>
                <a:cs typeface="Times New Roman" panose="02020603050405020304" pitchFamily="18" charset="0"/>
              </a:rPr>
              <a:t>Multilingual and Multi-Currency Support: </a:t>
            </a:r>
            <a:r>
              <a:rPr lang="en-US" sz="2200" dirty="0">
                <a:latin typeface="Times New Roman" panose="02020603050405020304" pitchFamily="18" charset="0"/>
                <a:cs typeface="Times New Roman" panose="02020603050405020304" pitchFamily="18" charset="0"/>
              </a:rPr>
              <a:t>Support for multiple languages to cater to a global audience.</a:t>
            </a:r>
          </a:p>
          <a:p>
            <a:pPr marL="342900" indent="-342900" algn="just">
              <a:buFont typeface="Courier New" panose="02070309020205020404" pitchFamily="49" charset="0"/>
              <a:buChar char="o"/>
            </a:pPr>
            <a:endParaRPr lang="en-US" sz="22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400" b="0" i="0" dirty="0">
              <a:solidFill>
                <a:srgbClr val="111111"/>
              </a:solidFill>
              <a:effectLst/>
              <a:latin typeface="Times New Roman" panose="02020603050405020304" pitchFamily="18" charset="0"/>
              <a:cs typeface="Times New Roman" panose="02020603050405020304" pitchFamily="18" charset="0"/>
            </a:endParaRPr>
          </a:p>
        </p:txBody>
      </p:sp>
    </p:spTree>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033C1-3D96-DED0-0A46-7E92BACBA3DD}"/>
              </a:ext>
            </a:extLst>
          </p:cNvPr>
          <p:cNvSpPr>
            <a:spLocks noGrp="1"/>
          </p:cNvSpPr>
          <p:nvPr>
            <p:ph type="ctrTitle"/>
          </p:nvPr>
        </p:nvSpPr>
        <p:spPr/>
        <p:txBody>
          <a:bodyPr/>
          <a:lstStyle/>
          <a:p>
            <a:r>
              <a:rPr lang="en-US" dirty="0"/>
              <a:t>Project Highlights</a:t>
            </a:r>
            <a:endParaRPr lang="en-IN" dirty="0"/>
          </a:p>
        </p:txBody>
      </p:sp>
      <p:sp>
        <p:nvSpPr>
          <p:cNvPr id="3" name="Subtitle 2">
            <a:extLst>
              <a:ext uri="{FF2B5EF4-FFF2-40B4-BE49-F238E27FC236}">
                <a16:creationId xmlns:a16="http://schemas.microsoft.com/office/drawing/2014/main" id="{7BC15158-E063-1904-5C63-F952BCDD0E0D}"/>
              </a:ext>
            </a:extLst>
          </p:cNvPr>
          <p:cNvSpPr>
            <a:spLocks noGrp="1"/>
          </p:cNvSpPr>
          <p:nvPr>
            <p:ph type="subTitle" idx="1"/>
          </p:nvPr>
        </p:nvSpPr>
        <p:spPr/>
        <p:txBody>
          <a:bodyPr/>
          <a:lstStyle/>
          <a:p>
            <a:endParaRPr lang="en-IN" dirty="0"/>
          </a:p>
        </p:txBody>
      </p:sp>
      <p:pic>
        <p:nvPicPr>
          <p:cNvPr id="6" name="Picture 5">
            <a:extLst>
              <a:ext uri="{FF2B5EF4-FFF2-40B4-BE49-F238E27FC236}">
                <a16:creationId xmlns:a16="http://schemas.microsoft.com/office/drawing/2014/main" id="{BE89691E-63B4-255D-6BAB-8CF06CF56F3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7504" y="1388534"/>
            <a:ext cx="8856984" cy="4690532"/>
          </a:xfrm>
          <a:prstGeom prst="rect">
            <a:avLst/>
          </a:prstGeom>
        </p:spPr>
      </p:pic>
    </p:spTree>
    <p:extLst>
      <p:ext uri="{BB962C8B-B14F-4D97-AF65-F5344CB8AC3E}">
        <p14:creationId xmlns:p14="http://schemas.microsoft.com/office/powerpoint/2010/main" val="1258939337"/>
      </p:ext>
    </p:extLst>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6" y="1196752"/>
            <a:ext cx="8136904" cy="583565"/>
          </a:xfrm>
          <a:prstGeom prst="rect">
            <a:avLst/>
          </a:prstGeom>
        </p:spPr>
        <p:txBody>
          <a:bodyPr wrap="square">
            <a:spAutoFit/>
          </a:bodyPr>
          <a:lstStyle/>
          <a:p>
            <a:endParaRPr lang="en-US"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5B2F662-C97D-BE6C-DAC0-9816A8A4CF0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5516" y="1268760"/>
            <a:ext cx="8712968" cy="4599646"/>
          </a:xfrm>
          <a:prstGeom prst="rect">
            <a:avLst/>
          </a:prstGeom>
        </p:spPr>
      </p:pic>
    </p:spTree>
  </p:cSld>
  <p:clrMapOvr>
    <a:masterClrMapping/>
  </p:clrMapOvr>
  <p:transition advTm="400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4D72D9-F825-6563-6137-424E19C10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5191"/>
            <a:ext cx="9144000" cy="4447618"/>
          </a:xfrm>
          <a:prstGeom prst="rect">
            <a:avLst/>
          </a:prstGeom>
        </p:spPr>
      </p:pic>
    </p:spTree>
    <p:extLst>
      <p:ext uri="{BB962C8B-B14F-4D97-AF65-F5344CB8AC3E}">
        <p14:creationId xmlns:p14="http://schemas.microsoft.com/office/powerpoint/2010/main" val="1921565373"/>
      </p:ext>
    </p:extLst>
  </p:cSld>
  <p:clrMapOvr>
    <a:masterClrMapping/>
  </p:clrMapOvr>
  <p:transition advTm="400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671634-0255-6978-BE5B-A4DB4DD4CEB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9512" y="1268760"/>
            <a:ext cx="8784976" cy="4646560"/>
          </a:xfrm>
          <a:prstGeom prst="rect">
            <a:avLst/>
          </a:prstGeom>
        </p:spPr>
      </p:pic>
    </p:spTree>
    <p:extLst>
      <p:ext uri="{BB962C8B-B14F-4D97-AF65-F5344CB8AC3E}">
        <p14:creationId xmlns:p14="http://schemas.microsoft.com/office/powerpoint/2010/main" val="1547845393"/>
      </p:ext>
    </p:extLst>
  </p:cSld>
  <p:clrMapOvr>
    <a:masterClrMapping/>
  </p:clrMapOvr>
  <p:transition advTm="400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69B6A8-4643-4AE2-A3A1-DE839EA37BC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600956"/>
            <a:ext cx="9144000" cy="4175058"/>
          </a:xfrm>
          <a:prstGeom prst="rect">
            <a:avLst/>
          </a:prstGeom>
        </p:spPr>
      </p:pic>
    </p:spTree>
    <p:extLst>
      <p:ext uri="{BB962C8B-B14F-4D97-AF65-F5344CB8AC3E}">
        <p14:creationId xmlns:p14="http://schemas.microsoft.com/office/powerpoint/2010/main" val="1977180403"/>
      </p:ext>
    </p:extLst>
  </p:cSld>
  <p:clrMapOvr>
    <a:masterClrMapping/>
  </p:clrMapOvr>
  <p:transition advTm="400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54006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Conclusion</a:t>
            </a:r>
          </a:p>
        </p:txBody>
      </p:sp>
      <p:sp>
        <p:nvSpPr>
          <p:cNvPr id="3" name="Rectangle 2"/>
          <p:cNvSpPr/>
          <p:nvPr/>
        </p:nvSpPr>
        <p:spPr>
          <a:xfrm>
            <a:off x="107504" y="908720"/>
            <a:ext cx="8928992" cy="5688632"/>
          </a:xfrm>
          <a:prstGeom prst="rect">
            <a:avLst/>
          </a:prstGeom>
        </p:spPr>
        <p:txBody>
          <a:bodyPr wrap="square">
            <a:noAutofit/>
          </a:bodyPr>
          <a:lstStyle/>
          <a:p>
            <a:pPr algn="just"/>
            <a:r>
              <a:rPr lang="en-US" sz="2200" dirty="0">
                <a:latin typeface="Times New Roman" panose="02020603050405020304" pitchFamily="18" charset="0"/>
                <a:cs typeface="Times New Roman" panose="02020603050405020304" pitchFamily="18" charset="0"/>
              </a:rPr>
              <a:t>In conclusion, the online shopping website project developed using HTML, CSS, Bootstrap and JavaScript successfully demonstrates how a modern, responsive, and interactive e-commerce platform can be created with core web technologies. Through the use of HTML for structure, CSS for styling, and JavaScript for dynamic functionality, this project showcases a user-friendly interface, efficient navigation, and essential features like product listings, shopping cart management, and responsive design.</a:t>
            </a:r>
          </a:p>
          <a:p>
            <a:pPr algn="just"/>
            <a:r>
              <a:rPr lang="en-US" sz="2200" dirty="0">
                <a:latin typeface="Times New Roman" panose="02020603050405020304" pitchFamily="18" charset="0"/>
                <a:cs typeface="Times New Roman" panose="02020603050405020304" pitchFamily="18" charset="0"/>
              </a:rPr>
              <a:t>This project not only highlights the power of these fundamental technologies in building a functional and aesthetically pleasing website but also lays the groundwork for further enhancements and integration of advanced features. It is a solid foundation for exploring more complex development techniques, such as back-end integration, database connectivity, and full-stack development.</a:t>
            </a:r>
          </a:p>
          <a:p>
            <a:pPr algn="just"/>
            <a:r>
              <a:rPr lang="en-US" sz="2200" dirty="0">
                <a:latin typeface="Times New Roman" panose="02020603050405020304" pitchFamily="18" charset="0"/>
                <a:cs typeface="Times New Roman" panose="02020603050405020304" pitchFamily="18" charset="0"/>
              </a:rPr>
              <a:t>Overall, this project is a testament to the capabilities of HTML, CSS, and JavaScript in creating engaging and functional web applications in the e-commerce space</a:t>
            </a: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advTm="4000">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58A3-77FB-1E5F-BF1B-51148F363E0A}"/>
              </a:ext>
            </a:extLst>
          </p:cNvPr>
          <p:cNvSpPr>
            <a:spLocks noGrp="1"/>
          </p:cNvSpPr>
          <p:nvPr>
            <p:ph type="title"/>
          </p:nvPr>
        </p:nvSpPr>
        <p:spPr>
          <a:xfrm>
            <a:off x="0" y="0"/>
            <a:ext cx="2339752" cy="838200"/>
          </a:xfrm>
        </p:spPr>
        <p:txBody>
          <a:bodyPr/>
          <a:lstStyle/>
          <a:p>
            <a:pPr algn="l"/>
            <a:r>
              <a:rPr lang="en-US" b="1" dirty="0"/>
              <a:t>References</a:t>
            </a:r>
            <a:endParaRPr lang="en-IN" b="1" dirty="0"/>
          </a:p>
        </p:txBody>
      </p:sp>
      <p:sp>
        <p:nvSpPr>
          <p:cNvPr id="3" name="Content Placeholder 2">
            <a:extLst>
              <a:ext uri="{FF2B5EF4-FFF2-40B4-BE49-F238E27FC236}">
                <a16:creationId xmlns:a16="http://schemas.microsoft.com/office/drawing/2014/main" id="{D4591BAC-20AF-0578-7428-1FAE8E0DA042}"/>
              </a:ext>
            </a:extLst>
          </p:cNvPr>
          <p:cNvSpPr>
            <a:spLocks noGrp="1"/>
          </p:cNvSpPr>
          <p:nvPr>
            <p:ph idx="1"/>
          </p:nvPr>
        </p:nvSpPr>
        <p:spPr>
          <a:xfrm>
            <a:off x="-24424" y="1052736"/>
            <a:ext cx="8229600" cy="4525963"/>
          </a:xfrm>
        </p:spPr>
        <p:txBody>
          <a:bodyPr/>
          <a:lstStyle/>
          <a:p>
            <a:pPr marL="0" indent="0">
              <a:buNone/>
            </a:pPr>
            <a:r>
              <a:rPr lang="en-US" b="1"/>
              <a:t>    </a:t>
            </a:r>
            <a:r>
              <a:rPr lang="en-US" b="1" dirty="0"/>
              <a:t> </a:t>
            </a:r>
            <a:r>
              <a:rPr lang="en-US" b="1"/>
              <a:t>Links</a:t>
            </a:r>
            <a:r>
              <a:rPr lang="en-US" b="1" dirty="0"/>
              <a:t>:</a:t>
            </a:r>
          </a:p>
          <a:p>
            <a:pPr marL="0" indent="0">
              <a:buNone/>
            </a:pPr>
            <a:r>
              <a:rPr lang="en-US" b="1" dirty="0"/>
              <a:t>     </a:t>
            </a:r>
            <a:r>
              <a:rPr lang="en-IN" dirty="0">
                <a:hlinkClick r:id="rId2"/>
              </a:rPr>
              <a:t>www.kaprion.one</a:t>
            </a:r>
            <a:endParaRPr lang="en-IN" dirty="0"/>
          </a:p>
          <a:p>
            <a:pPr marL="0" indent="0">
              <a:buNone/>
            </a:pPr>
            <a:r>
              <a:rPr lang="en-IN" b="1" dirty="0"/>
              <a:t>     </a:t>
            </a:r>
            <a:r>
              <a:rPr lang="en-IN" dirty="0">
                <a:hlinkClick r:id="rId3"/>
              </a:rPr>
              <a:t>LOUIS VUITTON - Official India Website</a:t>
            </a:r>
            <a:endParaRPr lang="en-IN" b="1" dirty="0"/>
          </a:p>
          <a:p>
            <a:pPr marL="0" indent="0">
              <a:buNone/>
            </a:pPr>
            <a:r>
              <a:rPr lang="en-IN" b="1" dirty="0"/>
              <a:t>     </a:t>
            </a:r>
            <a:r>
              <a:rPr lang="en-US" dirty="0" err="1">
                <a:hlinkClick r:id="rId4"/>
              </a:rPr>
              <a:t>taskspace</a:t>
            </a:r>
            <a:r>
              <a:rPr lang="en-US" dirty="0">
                <a:hlinkClick r:id="rId4"/>
              </a:rPr>
              <a:t> | beautiful, simple, customizable personal task manager</a:t>
            </a:r>
            <a:endParaRPr lang="en-US" b="1" dirty="0"/>
          </a:p>
          <a:p>
            <a:pPr marL="0" indent="0">
              <a:buNone/>
            </a:pPr>
            <a:r>
              <a:rPr lang="en-US" dirty="0"/>
              <a:t>      </a:t>
            </a:r>
          </a:p>
        </p:txBody>
      </p:sp>
    </p:spTree>
    <p:extLst>
      <p:ext uri="{BB962C8B-B14F-4D97-AF65-F5344CB8AC3E}">
        <p14:creationId xmlns:p14="http://schemas.microsoft.com/office/powerpoint/2010/main" val="3322841896"/>
      </p:ext>
    </p:extLst>
  </p:cSld>
  <p:clrMapOvr>
    <a:masterClrMapping/>
  </p:clrMapOvr>
  <p:transition advTm="4000">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0" y="857232"/>
            <a:ext cx="9144000" cy="5786478"/>
          </a:xfrm>
          <a:prstGeom prst="rect">
            <a:avLst/>
          </a:prstGeom>
          <a:noFill/>
        </p:spPr>
      </p:pic>
    </p:spTree>
  </p:cSld>
  <p:clrMapOvr>
    <a:masterClrMapping/>
  </p:clrMapOvr>
  <p:transition advTm="4000">
    <p:cut/>
  </p:transition>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1024</TotalTime>
  <Words>780</Words>
  <Application>Microsoft Office PowerPoint</Application>
  <PresentationFormat>On-screen Show (4:3)</PresentationFormat>
  <Paragraphs>52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Calibri</vt:lpstr>
      <vt:lpstr>Courier New</vt:lpstr>
      <vt:lpstr>Times New Roman</vt:lpstr>
      <vt:lpstr>Bubble Sort</vt:lpstr>
      <vt:lpstr>PowerPoint Presentation</vt:lpstr>
      <vt:lpstr>PowerPoint Presentation</vt:lpstr>
      <vt:lpstr>PowerPoint Presentation</vt:lpstr>
      <vt:lpstr>PowerPoint Presentation</vt:lpstr>
      <vt:lpstr>PowerPoint Presentation</vt:lpstr>
      <vt:lpstr>PowerPoint Presentation</vt:lpstr>
      <vt:lpstr>Project Highlights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Yash Kumar Sharma</cp:lastModifiedBy>
  <cp:revision>98</cp:revision>
  <dcterms:created xsi:type="dcterms:W3CDTF">2022-12-12T14:14:00Z</dcterms:created>
  <dcterms:modified xsi:type="dcterms:W3CDTF">2024-09-04T16:36:27Z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422A2FB99B29418BBC5E4F1B138FB0F0_13</vt:lpwstr>
  </property>
  <property fmtid="{D5CDD505-2E9C-101B-9397-08002B2CF9AE}" pid="3" name="KSOProductBuildVer">
    <vt:lpwstr>1033-12.2.0.13215</vt:lpwstr>
  </property>
</Properties>
</file>